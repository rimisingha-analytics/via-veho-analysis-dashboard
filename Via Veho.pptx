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8" r:id="rId7"/>
    <p:sldId id="269" r:id="rId8"/>
    <p:sldId id="270" r:id="rId9"/>
    <p:sldId id="271" r:id="rId10"/>
    <p:sldId id="265" r:id="rId11"/>
    <p:sldId id="266" r:id="rId12"/>
  </p:sldIdLst>
  <p:sldSz cx="18288000" cy="10287000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Arimo" panose="020B0604020202020204" charset="0"/>
      <p:regular r:id="rId14"/>
    </p:embeddedFont>
    <p:embeddedFont>
      <p:font typeface="Arimo Italics" panose="020B0604020202020204" charset="0"/>
      <p:regular r:id="rId15"/>
    </p:embeddedFont>
    <p:embeddedFont>
      <p:font typeface="Kanit" panose="020B0604020202020204" charset="0"/>
      <p:regular r:id="rId16"/>
    </p:embeddedFont>
    <p:embeddedFont>
      <p:font typeface="Oswald Bold" panose="00000800000000000000" charset="0"/>
      <p:regular r:id="rId17"/>
    </p:embeddedFont>
    <p:embeddedFont>
      <p:font typeface="Poppins Medium" panose="00000600000000000000" pitchFamily="2" charset="0"/>
      <p:regular r:id="rId18"/>
      <p: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91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mailto:Rimi.singha01@gmail.com" TargetMode="External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3.svg"/><Relationship Id="rId5" Type="http://schemas.openxmlformats.org/officeDocument/2006/relationships/image" Target="../media/image19.sv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hyperlink" Target="http://www.linkedin.com/in/rimi-singha-3093b532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4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48200" y="1637045"/>
            <a:ext cx="15402100" cy="7418473"/>
            <a:chOff x="0" y="0"/>
            <a:chExt cx="1687521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7521" cy="812800"/>
            </a:xfrm>
            <a:custGeom>
              <a:avLst/>
              <a:gdLst/>
              <a:ahLst/>
              <a:cxnLst/>
              <a:rect l="l" t="t" r="r" b="b"/>
              <a:pathLst>
                <a:path w="1687521" h="812800">
                  <a:moveTo>
                    <a:pt x="0" y="0"/>
                  </a:moveTo>
                  <a:lnTo>
                    <a:pt x="1687521" y="0"/>
                  </a:lnTo>
                  <a:lnTo>
                    <a:pt x="168752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687521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7701" y="362130"/>
            <a:ext cx="15494396" cy="8287825"/>
            <a:chOff x="0" y="-95250"/>
            <a:chExt cx="1697633" cy="908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97633" cy="812800"/>
            </a:xfrm>
            <a:custGeom>
              <a:avLst/>
              <a:gdLst/>
              <a:ahLst/>
              <a:cxnLst/>
              <a:rect l="l" t="t" r="r" b="b"/>
              <a:pathLst>
                <a:path w="1697633" h="812800">
                  <a:moveTo>
                    <a:pt x="0" y="0"/>
                  </a:moveTo>
                  <a:lnTo>
                    <a:pt x="1697633" y="0"/>
                  </a:lnTo>
                  <a:lnTo>
                    <a:pt x="16976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697633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981200" y="2129896"/>
            <a:ext cx="12893180" cy="323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30"/>
              </a:lnSpc>
            </a:pPr>
            <a:r>
              <a:rPr lang="en-US" sz="13021" b="1" dirty="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VIA VEHO</a:t>
            </a:r>
          </a:p>
          <a:p>
            <a:pPr algn="l">
              <a:lnSpc>
                <a:spcPts val="12630"/>
              </a:lnSpc>
            </a:pPr>
            <a:r>
              <a:rPr lang="en-US" sz="13021" b="1" dirty="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CAR SERVICE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91699" y="5346281"/>
            <a:ext cx="12893180" cy="35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DRIVING SUCCESS THROUGH INNOVATIVE SOLUTIONS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28D71-E3AE-D970-968D-38837DABC31C}"/>
              </a:ext>
            </a:extLst>
          </p:cNvPr>
          <p:cNvSpPr txBox="1"/>
          <p:nvPr/>
        </p:nvSpPr>
        <p:spPr>
          <a:xfrm>
            <a:off x="11017602" y="7656744"/>
            <a:ext cx="495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mo Italics" panose="020B0604020202020204" charset="0"/>
                <a:ea typeface="Arimo Italics" panose="020B0604020202020204" charset="0"/>
                <a:cs typeface="Arimo Italics" panose="020B0604020202020204" charset="0"/>
              </a:rPr>
              <a:t>Presented by  --  Rimi Singha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4D2EC6F-F494-AC69-C568-11EA89E38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9660" y="32938"/>
            <a:ext cx="5898820" cy="10254062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1150" y="1692342"/>
            <a:ext cx="11743947" cy="7418473"/>
            <a:chOff x="0" y="0"/>
            <a:chExt cx="1286718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6718" cy="812800"/>
            </a:xfrm>
            <a:custGeom>
              <a:avLst/>
              <a:gdLst/>
              <a:ahLst/>
              <a:cxnLst/>
              <a:rect l="l" t="t" r="r" b="b"/>
              <a:pathLst>
                <a:path w="1286718" h="812800">
                  <a:moveTo>
                    <a:pt x="0" y="0"/>
                  </a:moveTo>
                  <a:lnTo>
                    <a:pt x="1286718" y="0"/>
                  </a:lnTo>
                  <a:lnTo>
                    <a:pt x="12867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1286718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79828" y="1176185"/>
            <a:ext cx="11743947" cy="7418473"/>
            <a:chOff x="0" y="0"/>
            <a:chExt cx="1286718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86718" cy="812800"/>
            </a:xfrm>
            <a:custGeom>
              <a:avLst/>
              <a:gdLst/>
              <a:ahLst/>
              <a:cxnLst/>
              <a:rect l="l" t="t" r="r" b="b"/>
              <a:pathLst>
                <a:path w="1286718" h="812800">
                  <a:moveTo>
                    <a:pt x="0" y="0"/>
                  </a:moveTo>
                  <a:lnTo>
                    <a:pt x="1286718" y="0"/>
                  </a:lnTo>
                  <a:lnTo>
                    <a:pt x="12867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1286718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830968" y="3755921"/>
            <a:ext cx="10588692" cy="257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056"/>
              </a:lnSpc>
            </a:pPr>
            <a:r>
              <a:rPr lang="en-US" sz="2400" dirty="0"/>
              <a:t>This project focuses on building a comprehensive Power BI dashboard for Via Cab to analyze operational and revenue performance. It integrates ride, driver, customer, and payment data into a centralized system. The solution enables KPI tracking, revenue optimization, performance monitoring, and data-driven decision-making to improve overall business efficiency.</a:t>
            </a:r>
            <a:endParaRPr lang="en-US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" name="Freeform 11"/>
          <p:cNvSpPr/>
          <p:nvPr/>
        </p:nvSpPr>
        <p:spPr>
          <a:xfrm flipH="1">
            <a:off x="15130502" y="7596168"/>
            <a:ext cx="2405333" cy="1828053"/>
          </a:xfrm>
          <a:custGeom>
            <a:avLst/>
            <a:gdLst/>
            <a:ahLst/>
            <a:cxnLst/>
            <a:rect l="l" t="t" r="r" b="b"/>
            <a:pathLst>
              <a:path w="2405333" h="1828053">
                <a:moveTo>
                  <a:pt x="2405332" y="0"/>
                </a:moveTo>
                <a:lnTo>
                  <a:pt x="0" y="0"/>
                </a:lnTo>
                <a:lnTo>
                  <a:pt x="0" y="1828053"/>
                </a:lnTo>
                <a:lnTo>
                  <a:pt x="2405332" y="1828053"/>
                </a:lnTo>
                <a:lnTo>
                  <a:pt x="240533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830968" y="2159919"/>
            <a:ext cx="9634702" cy="129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24"/>
              </a:lnSpc>
              <a:spcBef>
                <a:spcPct val="0"/>
              </a:spcBef>
            </a:pPr>
            <a:r>
              <a:rPr lang="en-US" sz="10438" b="1" u="none" strike="noStrike" dirty="0">
                <a:latin typeface="Oswald Bold"/>
                <a:ea typeface="Oswald Bold"/>
                <a:cs typeface="Oswald Bold"/>
                <a:sym typeface="Oswald Bold"/>
              </a:rPr>
              <a:t>INTRODUCTION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DFD509-5030-96AD-9696-6E25B6DECA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665" y="7702311"/>
            <a:ext cx="2405334" cy="8495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454910" y="-603772"/>
            <a:ext cx="4967219" cy="11216898"/>
            <a:chOff x="0" y="0"/>
            <a:chExt cx="2117230" cy="47810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17230" cy="4781095"/>
            </a:xfrm>
            <a:custGeom>
              <a:avLst/>
              <a:gdLst/>
              <a:ahLst/>
              <a:cxnLst/>
              <a:rect l="l" t="t" r="r" b="b"/>
              <a:pathLst>
                <a:path w="2117230" h="4781095">
                  <a:moveTo>
                    <a:pt x="0" y="0"/>
                  </a:moveTo>
                  <a:lnTo>
                    <a:pt x="2117230" y="0"/>
                  </a:lnTo>
                  <a:lnTo>
                    <a:pt x="2117230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2117230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36473" y="4093441"/>
            <a:ext cx="6619455" cy="5372911"/>
            <a:chOff x="0" y="0"/>
            <a:chExt cx="692357" cy="4881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2357" cy="488127"/>
            </a:xfrm>
            <a:custGeom>
              <a:avLst/>
              <a:gdLst/>
              <a:ahLst/>
              <a:cxnLst/>
              <a:rect l="l" t="t" r="r" b="b"/>
              <a:pathLst>
                <a:path w="692357" h="488127">
                  <a:moveTo>
                    <a:pt x="0" y="0"/>
                  </a:moveTo>
                  <a:lnTo>
                    <a:pt x="692357" y="0"/>
                  </a:lnTo>
                  <a:lnTo>
                    <a:pt x="692357" y="488127"/>
                  </a:lnTo>
                  <a:lnTo>
                    <a:pt x="0" y="48812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692357" cy="583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75512" y="3588186"/>
            <a:ext cx="7241023" cy="5654702"/>
            <a:chOff x="0" y="0"/>
            <a:chExt cx="692357" cy="4881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2357" cy="488127"/>
            </a:xfrm>
            <a:custGeom>
              <a:avLst/>
              <a:gdLst/>
              <a:ahLst/>
              <a:cxnLst/>
              <a:rect l="l" t="t" r="r" b="b"/>
              <a:pathLst>
                <a:path w="692357" h="488127">
                  <a:moveTo>
                    <a:pt x="0" y="0"/>
                  </a:moveTo>
                  <a:lnTo>
                    <a:pt x="692357" y="0"/>
                  </a:lnTo>
                  <a:lnTo>
                    <a:pt x="692357" y="488127"/>
                  </a:lnTo>
                  <a:lnTo>
                    <a:pt x="0" y="4881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692357" cy="583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29659" y="4079768"/>
            <a:ext cx="7320141" cy="5386583"/>
            <a:chOff x="0" y="0"/>
            <a:chExt cx="692357" cy="4881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2357" cy="488127"/>
            </a:xfrm>
            <a:custGeom>
              <a:avLst/>
              <a:gdLst/>
              <a:ahLst/>
              <a:cxnLst/>
              <a:rect l="l" t="t" r="r" b="b"/>
              <a:pathLst>
                <a:path w="692357" h="488127">
                  <a:moveTo>
                    <a:pt x="0" y="0"/>
                  </a:moveTo>
                  <a:lnTo>
                    <a:pt x="692357" y="0"/>
                  </a:lnTo>
                  <a:lnTo>
                    <a:pt x="692357" y="488127"/>
                  </a:lnTo>
                  <a:lnTo>
                    <a:pt x="0" y="48812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692357" cy="583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03920" y="3588186"/>
            <a:ext cx="6980827" cy="5652916"/>
            <a:chOff x="0" y="0"/>
            <a:chExt cx="692357" cy="4881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2357" cy="488127"/>
            </a:xfrm>
            <a:custGeom>
              <a:avLst/>
              <a:gdLst/>
              <a:ahLst/>
              <a:cxnLst/>
              <a:rect l="l" t="t" r="r" b="b"/>
              <a:pathLst>
                <a:path w="692357" h="488127">
                  <a:moveTo>
                    <a:pt x="0" y="0"/>
                  </a:moveTo>
                  <a:lnTo>
                    <a:pt x="692357" y="0"/>
                  </a:lnTo>
                  <a:lnTo>
                    <a:pt x="692357" y="488127"/>
                  </a:lnTo>
                  <a:lnTo>
                    <a:pt x="0" y="4881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692357" cy="583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988481" y="4635749"/>
            <a:ext cx="6383989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/>
              <a:t>Revenue leakage due to ride cancellations and payment failures</a:t>
            </a:r>
          </a:p>
          <a:p>
            <a:r>
              <a:rPr lang="en-US" sz="2800" dirty="0"/>
              <a:t>Difficulty measuring driver efficiency and performance contribution</a:t>
            </a:r>
          </a:p>
          <a:p>
            <a:r>
              <a:rPr lang="en-US" sz="2800" dirty="0"/>
              <a:t>High ride cancellation and customer no-show rates</a:t>
            </a:r>
          </a:p>
          <a:p>
            <a:r>
              <a:rPr lang="en-US" sz="2800" dirty="0"/>
              <a:t>Unclear city-wise revenue and demand distribution patterns</a:t>
            </a:r>
          </a:p>
          <a:p>
            <a:r>
              <a:rPr lang="en-US" sz="2800" dirty="0"/>
              <a:t>Limited visibility into peak-hour demand and resource allocation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75512" y="1044112"/>
            <a:ext cx="15236087" cy="1499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2630"/>
              </a:lnSpc>
              <a:spcBef>
                <a:spcPct val="0"/>
              </a:spcBef>
            </a:pPr>
            <a:r>
              <a:rPr lang="en-US" sz="8800" b="1" dirty="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Business Problem Statement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68942" y="3747254"/>
            <a:ext cx="5383265" cy="66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75"/>
              </a:lnSpc>
              <a:spcBef>
                <a:spcPct val="0"/>
              </a:spcBef>
            </a:pPr>
            <a:r>
              <a:rPr lang="en-US" sz="4705" b="1" dirty="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The Challenges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72105" y="4701997"/>
            <a:ext cx="6027414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/>
              <a:t>Create a centralized analytics dashboard for operational visibility</a:t>
            </a:r>
          </a:p>
          <a:p>
            <a:r>
              <a:rPr lang="en-US" sz="2800" dirty="0"/>
              <a:t>Enable KPI-based monitoring of revenue and ride performance</a:t>
            </a:r>
          </a:p>
          <a:p>
            <a:r>
              <a:rPr lang="en-US" sz="2800" dirty="0"/>
              <a:t>Improve driver efficiency and performance tracking</a:t>
            </a:r>
          </a:p>
          <a:p>
            <a:r>
              <a:rPr lang="en-US" sz="2800" dirty="0"/>
              <a:t>Optimize revenue through city-wise and peak-hour analysis</a:t>
            </a:r>
          </a:p>
          <a:p>
            <a:r>
              <a:rPr lang="en-US" sz="2800" dirty="0"/>
              <a:t>Reduce cancellations and enhance customer experience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61567" y="3806734"/>
            <a:ext cx="5383265" cy="66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75"/>
              </a:lnSpc>
              <a:spcBef>
                <a:spcPct val="0"/>
              </a:spcBef>
            </a:pPr>
            <a:r>
              <a:rPr lang="en-US" sz="4705" b="1" dirty="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Project Objectives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7200615" y="298796"/>
            <a:ext cx="2174770" cy="696247"/>
            <a:chOff x="0" y="0"/>
            <a:chExt cx="568013" cy="1818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8013" cy="181848"/>
            </a:xfrm>
            <a:custGeom>
              <a:avLst/>
              <a:gdLst/>
              <a:ahLst/>
              <a:cxnLst/>
              <a:rect l="l" t="t" r="r" b="b"/>
              <a:pathLst>
                <a:path w="568013" h="181848">
                  <a:moveTo>
                    <a:pt x="0" y="0"/>
                  </a:moveTo>
                  <a:lnTo>
                    <a:pt x="568013" y="0"/>
                  </a:lnTo>
                  <a:lnTo>
                    <a:pt x="568013" y="181848"/>
                  </a:lnTo>
                  <a:lnTo>
                    <a:pt x="0" y="181848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0"/>
              <a:ext cx="568013" cy="27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59122" y="972183"/>
            <a:ext cx="15605002" cy="659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6600" b="1" dirty="0">
                <a:latin typeface="Kanit" pitchFamily="34" charset="0"/>
                <a:ea typeface="Kanit" pitchFamily="34" charset="-122"/>
                <a:cs typeface="Kanit" pitchFamily="34" charset="-120"/>
              </a:rPr>
              <a:t>Data Overview &amp; Modeling Strategy</a:t>
            </a:r>
            <a:endParaRPr lang="en-US" sz="6600" b="1" dirty="0"/>
          </a:p>
        </p:txBody>
      </p:sp>
      <p:grpSp>
        <p:nvGrpSpPr>
          <p:cNvPr id="7" name="Group 7"/>
          <p:cNvGrpSpPr/>
          <p:nvPr/>
        </p:nvGrpSpPr>
        <p:grpSpPr>
          <a:xfrm>
            <a:off x="-1454910" y="-603021"/>
            <a:ext cx="2160288" cy="11216898"/>
            <a:chOff x="0" y="0"/>
            <a:chExt cx="920802" cy="47810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20802" cy="4781095"/>
            </a:xfrm>
            <a:custGeom>
              <a:avLst/>
              <a:gdLst/>
              <a:ahLst/>
              <a:cxnLst/>
              <a:rect l="l" t="t" r="r" b="b"/>
              <a:pathLst>
                <a:path w="920802" h="4781095">
                  <a:moveTo>
                    <a:pt x="0" y="0"/>
                  </a:moveTo>
                  <a:lnTo>
                    <a:pt x="920802" y="0"/>
                  </a:lnTo>
                  <a:lnTo>
                    <a:pt x="920802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920802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24834" y="2404951"/>
            <a:ext cx="5023855" cy="2050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056"/>
              </a:lnSpc>
            </a:pPr>
            <a:r>
              <a:rPr lang="en-US" sz="2400" b="1" dirty="0"/>
              <a:t>Comprehensive Dataset </a:t>
            </a:r>
          </a:p>
          <a:p>
            <a:pPr lvl="0">
              <a:lnSpc>
                <a:spcPts val="4056"/>
              </a:lnSpc>
            </a:pPr>
            <a:r>
              <a:rPr lang="en-US" sz="2400" dirty="0"/>
              <a:t>Integrated trip, calendar, and location data enabling dynamic, scalable business performance analysis. 🚖📊</a:t>
            </a:r>
            <a:endParaRPr lang="en-US" sz="24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7200615" y="298796"/>
            <a:ext cx="2174770" cy="696247"/>
            <a:chOff x="0" y="0"/>
            <a:chExt cx="568013" cy="1818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8013" cy="181848"/>
            </a:xfrm>
            <a:custGeom>
              <a:avLst/>
              <a:gdLst/>
              <a:ahLst/>
              <a:cxnLst/>
              <a:rect l="l" t="t" r="r" b="b"/>
              <a:pathLst>
                <a:path w="568013" h="181848">
                  <a:moveTo>
                    <a:pt x="0" y="0"/>
                  </a:moveTo>
                  <a:lnTo>
                    <a:pt x="568013" y="0"/>
                  </a:lnTo>
                  <a:lnTo>
                    <a:pt x="568013" y="181848"/>
                  </a:lnTo>
                  <a:lnTo>
                    <a:pt x="0" y="181848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0"/>
              <a:ext cx="568013" cy="27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A0E02840-2EC6-B3C5-837E-2ECC192AB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232033"/>
            <a:ext cx="8782658" cy="6493125"/>
          </a:xfrm>
          <a:prstGeom prst="rect">
            <a:avLst/>
          </a:prstGeom>
        </p:spPr>
      </p:pic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2B964D58-331C-DCAD-265B-841D82210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64" y="2404951"/>
            <a:ext cx="598884" cy="598884"/>
          </a:xfrm>
          <a:prstGeom prst="rect">
            <a:avLst/>
          </a:prstGeom>
        </p:spPr>
      </p:pic>
      <p:sp>
        <p:nvSpPr>
          <p:cNvPr id="32" name="Rectangle 1">
            <a:extLst>
              <a:ext uri="{FF2B5EF4-FFF2-40B4-BE49-F238E27FC236}">
                <a16:creationId xmlns:a16="http://schemas.microsoft.com/office/drawing/2014/main" id="{01CE59C1-F3EE-251B-C484-5662E3113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1259" y="4867031"/>
            <a:ext cx="5084141" cy="2012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Kanit" pitchFamily="34" charset="0"/>
                <a:ea typeface="Kanit" pitchFamily="34" charset="-122"/>
                <a:cs typeface="Kanit" pitchFamily="34" charset="-120"/>
              </a:rPr>
              <a:t>Key Metrics</a:t>
            </a:r>
            <a:endParaRPr lang="en-US" sz="2000" b="1" dirty="0"/>
          </a:p>
          <a:p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Revenue, total trips, average fare, cancellation rate, passenger count, and payment distribution. 🚖📊</a:t>
            </a:r>
          </a:p>
        </p:txBody>
      </p:sp>
      <p:pic>
        <p:nvPicPr>
          <p:cNvPr id="33" name="Image 3" descr="preencoded.png">
            <a:extLst>
              <a:ext uri="{FF2B5EF4-FFF2-40B4-BE49-F238E27FC236}">
                <a16:creationId xmlns:a16="http://schemas.microsoft.com/office/drawing/2014/main" id="{411A5C72-01D5-5B2F-6525-2CD80862B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1" y="4844058"/>
            <a:ext cx="478458" cy="478458"/>
          </a:xfrm>
          <a:prstGeom prst="rect">
            <a:avLst/>
          </a:prstGeom>
        </p:spPr>
      </p:pic>
      <p:sp>
        <p:nvSpPr>
          <p:cNvPr id="34" name="Rectangle 1">
            <a:extLst>
              <a:ext uri="{FF2B5EF4-FFF2-40B4-BE49-F238E27FC236}">
                <a16:creationId xmlns:a16="http://schemas.microsoft.com/office/drawing/2014/main" id="{08267822-8D71-967C-367E-B81D6AE9F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214" y="7290959"/>
            <a:ext cx="5084141" cy="1999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300"/>
              </a:lnSpc>
            </a:pPr>
            <a:r>
              <a:rPr lang="en-US" sz="2000" b="1" dirty="0">
                <a:latin typeface="Kanit" pitchFamily="34" charset="0"/>
                <a:ea typeface="Kanit" pitchFamily="34" charset="-122"/>
                <a:cs typeface="Kanit" pitchFamily="34" charset="-120"/>
              </a:rPr>
              <a:t>Star Schema Design</a:t>
            </a:r>
            <a:endParaRPr lang="en-US" sz="2000" b="1" dirty="0"/>
          </a:p>
          <a:p>
            <a:endParaRPr lang="en-US" b="1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Fact table for trips connected to calendar and location dimension tables for structured analysis. 📊🚖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5" name="Image 5" descr="preencoded.png">
            <a:extLst>
              <a:ext uri="{FF2B5EF4-FFF2-40B4-BE49-F238E27FC236}">
                <a16:creationId xmlns:a16="http://schemas.microsoft.com/office/drawing/2014/main" id="{0C6374BA-2C7B-6F4D-5603-D4C729898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062" y="7227822"/>
            <a:ext cx="598884" cy="5988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3657600" y="242777"/>
            <a:ext cx="1143617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175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Overview Analysis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7200615" y="298796"/>
            <a:ext cx="2174770" cy="696247"/>
            <a:chOff x="0" y="0"/>
            <a:chExt cx="568013" cy="1818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8013" cy="181848"/>
            </a:xfrm>
            <a:custGeom>
              <a:avLst/>
              <a:gdLst/>
              <a:ahLst/>
              <a:cxnLst/>
              <a:rect l="l" t="t" r="r" b="b"/>
              <a:pathLst>
                <a:path w="568013" h="181848">
                  <a:moveTo>
                    <a:pt x="0" y="0"/>
                  </a:moveTo>
                  <a:lnTo>
                    <a:pt x="568013" y="0"/>
                  </a:lnTo>
                  <a:lnTo>
                    <a:pt x="568013" y="181848"/>
                  </a:lnTo>
                  <a:lnTo>
                    <a:pt x="0" y="181848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568013" cy="27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A6D9ADB-4030-BF4C-62CD-F029A9A98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359730"/>
            <a:ext cx="17754599" cy="8927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1359F-69F8-ED9E-26EB-C586BBFF3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>
            <a:extLst>
              <a:ext uri="{FF2B5EF4-FFF2-40B4-BE49-F238E27FC236}">
                <a16:creationId xmlns:a16="http://schemas.microsoft.com/office/drawing/2014/main" id="{55CDF4AD-8CC3-89B9-72EB-7AC210A5D39D}"/>
              </a:ext>
            </a:extLst>
          </p:cNvPr>
          <p:cNvSpPr txBox="1"/>
          <p:nvPr/>
        </p:nvSpPr>
        <p:spPr>
          <a:xfrm>
            <a:off x="3657600" y="242777"/>
            <a:ext cx="1143617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175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Time Analysis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E47F51F-1277-D560-C464-4C225B7D88B7}"/>
              </a:ext>
            </a:extLst>
          </p:cNvPr>
          <p:cNvGrpSpPr/>
          <p:nvPr/>
        </p:nvGrpSpPr>
        <p:grpSpPr>
          <a:xfrm>
            <a:off x="17200615" y="298796"/>
            <a:ext cx="2174770" cy="696247"/>
            <a:chOff x="0" y="0"/>
            <a:chExt cx="568013" cy="18184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367F9A3-44CF-596B-091B-2922A10CC98B}"/>
                </a:ext>
              </a:extLst>
            </p:cNvPr>
            <p:cNvSpPr/>
            <p:nvPr/>
          </p:nvSpPr>
          <p:spPr>
            <a:xfrm>
              <a:off x="0" y="0"/>
              <a:ext cx="568013" cy="181848"/>
            </a:xfrm>
            <a:custGeom>
              <a:avLst/>
              <a:gdLst/>
              <a:ahLst/>
              <a:cxnLst/>
              <a:rect l="l" t="t" r="r" b="b"/>
              <a:pathLst>
                <a:path w="568013" h="181848">
                  <a:moveTo>
                    <a:pt x="0" y="0"/>
                  </a:moveTo>
                  <a:lnTo>
                    <a:pt x="568013" y="0"/>
                  </a:lnTo>
                  <a:lnTo>
                    <a:pt x="568013" y="181848"/>
                  </a:lnTo>
                  <a:lnTo>
                    <a:pt x="0" y="181848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EBFE5B3-EC1A-0C0C-3B08-7F832B311CC4}"/>
                </a:ext>
              </a:extLst>
            </p:cNvPr>
            <p:cNvSpPr txBox="1"/>
            <p:nvPr/>
          </p:nvSpPr>
          <p:spPr>
            <a:xfrm>
              <a:off x="0" y="-95250"/>
              <a:ext cx="568013" cy="27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A740669-A0D5-41A9-98E8-C18E5344B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0" y="1294347"/>
            <a:ext cx="17830800" cy="901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70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EE9E2-4C09-1734-03E2-A7DEF7F8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>
            <a:extLst>
              <a:ext uri="{FF2B5EF4-FFF2-40B4-BE49-F238E27FC236}">
                <a16:creationId xmlns:a16="http://schemas.microsoft.com/office/drawing/2014/main" id="{BACD0E9F-E080-6F8D-323D-3BB24E670556}"/>
              </a:ext>
            </a:extLst>
          </p:cNvPr>
          <p:cNvSpPr txBox="1"/>
          <p:nvPr/>
        </p:nvSpPr>
        <p:spPr>
          <a:xfrm>
            <a:off x="3657600" y="242777"/>
            <a:ext cx="1143617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175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Details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EA2D80A-E84D-4B29-9615-1BD4FB9DE455}"/>
              </a:ext>
            </a:extLst>
          </p:cNvPr>
          <p:cNvGrpSpPr/>
          <p:nvPr/>
        </p:nvGrpSpPr>
        <p:grpSpPr>
          <a:xfrm>
            <a:off x="17200615" y="298796"/>
            <a:ext cx="2174770" cy="696247"/>
            <a:chOff x="0" y="0"/>
            <a:chExt cx="568013" cy="18184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76280B8-9E13-1407-473F-D66D2E7DAC76}"/>
                </a:ext>
              </a:extLst>
            </p:cNvPr>
            <p:cNvSpPr/>
            <p:nvPr/>
          </p:nvSpPr>
          <p:spPr>
            <a:xfrm>
              <a:off x="0" y="0"/>
              <a:ext cx="568013" cy="181848"/>
            </a:xfrm>
            <a:custGeom>
              <a:avLst/>
              <a:gdLst/>
              <a:ahLst/>
              <a:cxnLst/>
              <a:rect l="l" t="t" r="r" b="b"/>
              <a:pathLst>
                <a:path w="568013" h="181848">
                  <a:moveTo>
                    <a:pt x="0" y="0"/>
                  </a:moveTo>
                  <a:lnTo>
                    <a:pt x="568013" y="0"/>
                  </a:lnTo>
                  <a:lnTo>
                    <a:pt x="568013" y="181848"/>
                  </a:lnTo>
                  <a:lnTo>
                    <a:pt x="0" y="181848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2E31B374-E2F4-5EE9-6022-4C89187325E1}"/>
                </a:ext>
              </a:extLst>
            </p:cNvPr>
            <p:cNvSpPr txBox="1"/>
            <p:nvPr/>
          </p:nvSpPr>
          <p:spPr>
            <a:xfrm>
              <a:off x="0" y="-95250"/>
              <a:ext cx="568013" cy="27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B9F00B-50EA-04F5-24A2-518A954DE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94347"/>
            <a:ext cx="17526000" cy="874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919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F0C21-BA6B-2023-570D-CCD5B2D0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>
            <a:extLst>
              <a:ext uri="{FF2B5EF4-FFF2-40B4-BE49-F238E27FC236}">
                <a16:creationId xmlns:a16="http://schemas.microsoft.com/office/drawing/2014/main" id="{ED8D7989-85BF-F863-FDD4-8D6135F448F0}"/>
              </a:ext>
            </a:extLst>
          </p:cNvPr>
          <p:cNvSpPr txBox="1"/>
          <p:nvPr/>
        </p:nvSpPr>
        <p:spPr>
          <a:xfrm>
            <a:off x="3657600" y="242777"/>
            <a:ext cx="11436171" cy="2103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175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Insights</a:t>
            </a:r>
          </a:p>
          <a:p>
            <a:pPr marL="0" lvl="0" indent="0" algn="ctr">
              <a:lnSpc>
                <a:spcPts val="8175"/>
              </a:lnSpc>
              <a:spcBef>
                <a:spcPct val="0"/>
              </a:spcBef>
            </a:pPr>
            <a:endParaRPr lang="en-US" sz="8000" b="1" dirty="0">
              <a:solidFill>
                <a:srgbClr val="000000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B345060-2DF1-B409-0CBB-37449020C2B8}"/>
              </a:ext>
            </a:extLst>
          </p:cNvPr>
          <p:cNvGrpSpPr/>
          <p:nvPr/>
        </p:nvGrpSpPr>
        <p:grpSpPr>
          <a:xfrm>
            <a:off x="17200615" y="298796"/>
            <a:ext cx="2174770" cy="696247"/>
            <a:chOff x="0" y="0"/>
            <a:chExt cx="568013" cy="18184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481F391-FB53-9EC4-32ED-C7B54E4C1123}"/>
                </a:ext>
              </a:extLst>
            </p:cNvPr>
            <p:cNvSpPr/>
            <p:nvPr/>
          </p:nvSpPr>
          <p:spPr>
            <a:xfrm>
              <a:off x="0" y="0"/>
              <a:ext cx="568013" cy="181848"/>
            </a:xfrm>
            <a:custGeom>
              <a:avLst/>
              <a:gdLst/>
              <a:ahLst/>
              <a:cxnLst/>
              <a:rect l="l" t="t" r="r" b="b"/>
              <a:pathLst>
                <a:path w="568013" h="181848">
                  <a:moveTo>
                    <a:pt x="0" y="0"/>
                  </a:moveTo>
                  <a:lnTo>
                    <a:pt x="568013" y="0"/>
                  </a:lnTo>
                  <a:lnTo>
                    <a:pt x="568013" y="181848"/>
                  </a:lnTo>
                  <a:lnTo>
                    <a:pt x="0" y="181848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779F6A2-596A-3337-2F9B-91EA81B61F55}"/>
                </a:ext>
              </a:extLst>
            </p:cNvPr>
            <p:cNvSpPr txBox="1"/>
            <p:nvPr/>
          </p:nvSpPr>
          <p:spPr>
            <a:xfrm>
              <a:off x="0" y="-95250"/>
              <a:ext cx="568013" cy="27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1BFDC5D-D8F3-60C5-4BDA-1B8F78A90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85"/>
          <a:stretch>
            <a:fillRect/>
          </a:stretch>
        </p:blipFill>
        <p:spPr>
          <a:xfrm>
            <a:off x="304800" y="1359730"/>
            <a:ext cx="17678400" cy="868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952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3AB42-A16E-19C7-F73D-1B2E3A2DB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5613EF2E-0E8E-E0EF-F322-A5FEE4A3A5C2}"/>
              </a:ext>
            </a:extLst>
          </p:cNvPr>
          <p:cNvSpPr txBox="1"/>
          <p:nvPr/>
        </p:nvSpPr>
        <p:spPr>
          <a:xfrm>
            <a:off x="381961" y="606944"/>
            <a:ext cx="17066878" cy="5824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6600" dirty="0">
                <a:latin typeface="Kanit" pitchFamily="34" charset="0"/>
                <a:ea typeface="Kanit" pitchFamily="34" charset="-122"/>
                <a:cs typeface="Kanit" pitchFamily="34" charset="-120"/>
              </a:rPr>
              <a:t>Key Insights &amp; Strategic Recommendations</a:t>
            </a:r>
            <a:endParaRPr lang="en-US" sz="6600" dirty="0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40E7A3D-AAA5-2217-2A56-8A1015A78E3B}"/>
              </a:ext>
            </a:extLst>
          </p:cNvPr>
          <p:cNvGrpSpPr/>
          <p:nvPr/>
        </p:nvGrpSpPr>
        <p:grpSpPr>
          <a:xfrm>
            <a:off x="-1454910" y="-603021"/>
            <a:ext cx="2160288" cy="11216898"/>
            <a:chOff x="0" y="0"/>
            <a:chExt cx="920802" cy="4781095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1CA8A58-02C0-9430-A301-F6B13E2E427A}"/>
                </a:ext>
              </a:extLst>
            </p:cNvPr>
            <p:cNvSpPr/>
            <p:nvPr/>
          </p:nvSpPr>
          <p:spPr>
            <a:xfrm>
              <a:off x="0" y="0"/>
              <a:ext cx="920802" cy="4781095"/>
            </a:xfrm>
            <a:custGeom>
              <a:avLst/>
              <a:gdLst/>
              <a:ahLst/>
              <a:cxnLst/>
              <a:rect l="l" t="t" r="r" b="b"/>
              <a:pathLst>
                <a:path w="920802" h="4781095">
                  <a:moveTo>
                    <a:pt x="0" y="0"/>
                  </a:moveTo>
                  <a:lnTo>
                    <a:pt x="920802" y="0"/>
                  </a:lnTo>
                  <a:lnTo>
                    <a:pt x="920802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B4603DE-D07E-8CFD-8CDB-6DB280B2E958}"/>
                </a:ext>
              </a:extLst>
            </p:cNvPr>
            <p:cNvSpPr txBox="1"/>
            <p:nvPr/>
          </p:nvSpPr>
          <p:spPr>
            <a:xfrm>
              <a:off x="0" y="-95250"/>
              <a:ext cx="920802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8053294-141D-3909-6BD5-73C061ED4357}"/>
              </a:ext>
            </a:extLst>
          </p:cNvPr>
          <p:cNvSpPr txBox="1"/>
          <p:nvPr/>
        </p:nvSpPr>
        <p:spPr>
          <a:xfrm>
            <a:off x="1332128" y="2573869"/>
            <a:ext cx="6821272" cy="277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50"/>
              </a:lnSpc>
            </a:pPr>
            <a:r>
              <a:rPr lang="en-US" sz="2800" dirty="0">
                <a:latin typeface="Arial Black" panose="020B0A04020102020204" pitchFamily="34" charset="0"/>
                <a:ea typeface="Kanit" pitchFamily="34" charset="-122"/>
                <a:cs typeface="Kanit" pitchFamily="34" charset="-120"/>
              </a:rPr>
              <a:t>Actionable Intelligence from Data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E67B4836-5334-B189-DA4C-1FC098D23CAB}"/>
              </a:ext>
            </a:extLst>
          </p:cNvPr>
          <p:cNvGrpSpPr/>
          <p:nvPr/>
        </p:nvGrpSpPr>
        <p:grpSpPr>
          <a:xfrm>
            <a:off x="17200615" y="298796"/>
            <a:ext cx="2174770" cy="696247"/>
            <a:chOff x="0" y="0"/>
            <a:chExt cx="568013" cy="181848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40981A4-DC35-9D26-2516-BBCE01109F39}"/>
                </a:ext>
              </a:extLst>
            </p:cNvPr>
            <p:cNvSpPr/>
            <p:nvPr/>
          </p:nvSpPr>
          <p:spPr>
            <a:xfrm>
              <a:off x="0" y="0"/>
              <a:ext cx="568013" cy="181848"/>
            </a:xfrm>
            <a:custGeom>
              <a:avLst/>
              <a:gdLst/>
              <a:ahLst/>
              <a:cxnLst/>
              <a:rect l="l" t="t" r="r" b="b"/>
              <a:pathLst>
                <a:path w="568013" h="181848">
                  <a:moveTo>
                    <a:pt x="0" y="0"/>
                  </a:moveTo>
                  <a:lnTo>
                    <a:pt x="568013" y="0"/>
                  </a:lnTo>
                  <a:lnTo>
                    <a:pt x="568013" y="181848"/>
                  </a:lnTo>
                  <a:lnTo>
                    <a:pt x="0" y="181848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D95A79A2-91B7-B9F0-A5CD-CFCA7AD2DBC3}"/>
                </a:ext>
              </a:extLst>
            </p:cNvPr>
            <p:cNvSpPr txBox="1"/>
            <p:nvPr/>
          </p:nvSpPr>
          <p:spPr>
            <a:xfrm>
              <a:off x="0" y="-95250"/>
              <a:ext cx="568013" cy="27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32" name="Rectangle 1">
            <a:extLst>
              <a:ext uri="{FF2B5EF4-FFF2-40B4-BE49-F238E27FC236}">
                <a16:creationId xmlns:a16="http://schemas.microsoft.com/office/drawing/2014/main" id="{40CD3A1D-0593-2424-C03B-AC5758471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2590" y="8871613"/>
            <a:ext cx="50841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043046-1D2A-7255-7EEF-446031532E1F}"/>
              </a:ext>
            </a:extLst>
          </p:cNvPr>
          <p:cNvGrpSpPr/>
          <p:nvPr/>
        </p:nvGrpSpPr>
        <p:grpSpPr>
          <a:xfrm>
            <a:off x="1332128" y="3055173"/>
            <a:ext cx="7811872" cy="2294502"/>
            <a:chOff x="851050" y="2651779"/>
            <a:chExt cx="8968805" cy="1624148"/>
          </a:xfrm>
        </p:grpSpPr>
        <p:grpSp>
          <p:nvGrpSpPr>
            <p:cNvPr id="3" name="Group 6">
              <a:extLst>
                <a:ext uri="{FF2B5EF4-FFF2-40B4-BE49-F238E27FC236}">
                  <a16:creationId xmlns:a16="http://schemas.microsoft.com/office/drawing/2014/main" id="{215A782D-3492-6019-30BE-438780626EE6}"/>
                </a:ext>
              </a:extLst>
            </p:cNvPr>
            <p:cNvGrpSpPr/>
            <p:nvPr/>
          </p:nvGrpSpPr>
          <p:grpSpPr>
            <a:xfrm>
              <a:off x="2286000" y="3347668"/>
              <a:ext cx="7533855" cy="928259"/>
              <a:chOff x="0" y="0"/>
              <a:chExt cx="692357" cy="488127"/>
            </a:xfrm>
          </p:grpSpPr>
          <p:sp>
            <p:nvSpPr>
              <p:cNvPr id="4" name="Freeform 7">
                <a:extLst>
                  <a:ext uri="{FF2B5EF4-FFF2-40B4-BE49-F238E27FC236}">
                    <a16:creationId xmlns:a16="http://schemas.microsoft.com/office/drawing/2014/main" id="{F966D30A-7105-BE7A-12D9-503F4B676EE4}"/>
                  </a:ext>
                </a:extLst>
              </p:cNvPr>
              <p:cNvSpPr/>
              <p:nvPr/>
            </p:nvSpPr>
            <p:spPr>
              <a:xfrm>
                <a:off x="0" y="0"/>
                <a:ext cx="692357" cy="488127"/>
              </a:xfrm>
              <a:custGeom>
                <a:avLst/>
                <a:gdLst/>
                <a:ahLst/>
                <a:cxnLst/>
                <a:rect l="l" t="t" r="r" b="b"/>
                <a:pathLst>
                  <a:path w="692357" h="488127">
                    <a:moveTo>
                      <a:pt x="0" y="0"/>
                    </a:moveTo>
                    <a:lnTo>
                      <a:pt x="692357" y="0"/>
                    </a:lnTo>
                    <a:lnTo>
                      <a:pt x="692357" y="488127"/>
                    </a:lnTo>
                    <a:lnTo>
                      <a:pt x="0" y="488127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  <p:sp>
            <p:nvSpPr>
              <p:cNvPr id="5" name="TextBox 8">
                <a:extLst>
                  <a:ext uri="{FF2B5EF4-FFF2-40B4-BE49-F238E27FC236}">
                    <a16:creationId xmlns:a16="http://schemas.microsoft.com/office/drawing/2014/main" id="{73704290-DEE8-33CA-61A8-1619F8AE839D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92357" cy="5833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grpSp>
          <p:nvGrpSpPr>
            <p:cNvPr id="11" name="Group 9">
              <a:extLst>
                <a:ext uri="{FF2B5EF4-FFF2-40B4-BE49-F238E27FC236}">
                  <a16:creationId xmlns:a16="http://schemas.microsoft.com/office/drawing/2014/main" id="{D121ECF5-B4E2-48D8-6556-6EFA6A856AB0}"/>
                </a:ext>
              </a:extLst>
            </p:cNvPr>
            <p:cNvGrpSpPr/>
            <p:nvPr/>
          </p:nvGrpSpPr>
          <p:grpSpPr>
            <a:xfrm>
              <a:off x="851050" y="2651779"/>
              <a:ext cx="8515274" cy="1167577"/>
              <a:chOff x="-23018" y="-95250"/>
              <a:chExt cx="715375" cy="583377"/>
            </a:xfrm>
          </p:grpSpPr>
          <p:sp>
            <p:nvSpPr>
              <p:cNvPr id="12" name="Freeform 10">
                <a:extLst>
                  <a:ext uri="{FF2B5EF4-FFF2-40B4-BE49-F238E27FC236}">
                    <a16:creationId xmlns:a16="http://schemas.microsoft.com/office/drawing/2014/main" id="{02E287CC-DE48-C3FB-05E3-F69AEC35CC50}"/>
                  </a:ext>
                </a:extLst>
              </p:cNvPr>
              <p:cNvSpPr/>
              <p:nvPr/>
            </p:nvSpPr>
            <p:spPr>
              <a:xfrm>
                <a:off x="-23018" y="0"/>
                <a:ext cx="715375" cy="488127"/>
              </a:xfrm>
              <a:custGeom>
                <a:avLst/>
                <a:gdLst/>
                <a:ahLst/>
                <a:cxnLst/>
                <a:rect l="l" t="t" r="r" b="b"/>
                <a:pathLst>
                  <a:path w="692357" h="488127">
                    <a:moveTo>
                      <a:pt x="0" y="0"/>
                    </a:moveTo>
                    <a:lnTo>
                      <a:pt x="692357" y="0"/>
                    </a:lnTo>
                    <a:lnTo>
                      <a:pt x="692357" y="488127"/>
                    </a:lnTo>
                    <a:lnTo>
                      <a:pt x="0" y="48812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r>
                  <a:rPr lang="en-US" sz="2400" b="1" dirty="0"/>
                  <a:t>🚖 April Revenue Peak</a:t>
                </a:r>
              </a:p>
              <a:p>
                <a:r>
                  <a:rPr lang="en-US" sz="2400" dirty="0"/>
                  <a:t>Highest revenue recorded in April across multiple dashboards – analyze peak demand drivers and seasonal impact.</a:t>
                </a:r>
              </a:p>
              <a:p>
                <a:endParaRPr lang="en-US" sz="2400" dirty="0"/>
              </a:p>
            </p:txBody>
          </p:sp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FED0B8EA-7E2D-B272-2085-D944B631FD1A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92357" cy="5833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E4EB6CD-E909-4E30-71BE-8259986B47FE}"/>
              </a:ext>
            </a:extLst>
          </p:cNvPr>
          <p:cNvGrpSpPr/>
          <p:nvPr/>
        </p:nvGrpSpPr>
        <p:grpSpPr>
          <a:xfrm>
            <a:off x="1318994" y="5573139"/>
            <a:ext cx="7825006" cy="1717820"/>
            <a:chOff x="9396804" y="6320825"/>
            <a:chExt cx="8694816" cy="1433514"/>
          </a:xfrm>
        </p:grpSpPr>
        <p:grpSp>
          <p:nvGrpSpPr>
            <p:cNvPr id="14" name="Group 6">
              <a:extLst>
                <a:ext uri="{FF2B5EF4-FFF2-40B4-BE49-F238E27FC236}">
                  <a16:creationId xmlns:a16="http://schemas.microsoft.com/office/drawing/2014/main" id="{8F67C0E6-B44A-FF47-C51D-2E5130721677}"/>
                </a:ext>
              </a:extLst>
            </p:cNvPr>
            <p:cNvGrpSpPr/>
            <p:nvPr/>
          </p:nvGrpSpPr>
          <p:grpSpPr>
            <a:xfrm>
              <a:off x="10557765" y="6826080"/>
              <a:ext cx="7533855" cy="928259"/>
              <a:chOff x="0" y="0"/>
              <a:chExt cx="692357" cy="488127"/>
            </a:xfrm>
          </p:grpSpPr>
          <p:sp>
            <p:nvSpPr>
              <p:cNvPr id="15" name="Freeform 7">
                <a:extLst>
                  <a:ext uri="{FF2B5EF4-FFF2-40B4-BE49-F238E27FC236}">
                    <a16:creationId xmlns:a16="http://schemas.microsoft.com/office/drawing/2014/main" id="{DFECBB09-22D6-1A3D-4910-E0F6713DB87A}"/>
                  </a:ext>
                </a:extLst>
              </p:cNvPr>
              <p:cNvSpPr/>
              <p:nvPr/>
            </p:nvSpPr>
            <p:spPr>
              <a:xfrm>
                <a:off x="0" y="0"/>
                <a:ext cx="692357" cy="488127"/>
              </a:xfrm>
              <a:custGeom>
                <a:avLst/>
                <a:gdLst/>
                <a:ahLst/>
                <a:cxnLst/>
                <a:rect l="l" t="t" r="r" b="b"/>
                <a:pathLst>
                  <a:path w="692357" h="488127">
                    <a:moveTo>
                      <a:pt x="0" y="0"/>
                    </a:moveTo>
                    <a:lnTo>
                      <a:pt x="692357" y="0"/>
                    </a:lnTo>
                    <a:lnTo>
                      <a:pt x="692357" y="488127"/>
                    </a:lnTo>
                    <a:lnTo>
                      <a:pt x="0" y="488127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  <p:sp>
            <p:nvSpPr>
              <p:cNvPr id="16" name="TextBox 8">
                <a:extLst>
                  <a:ext uri="{FF2B5EF4-FFF2-40B4-BE49-F238E27FC236}">
                    <a16:creationId xmlns:a16="http://schemas.microsoft.com/office/drawing/2014/main" id="{EC50005F-BDE6-E082-8701-3EC3ABD48740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92357" cy="5833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grpSp>
          <p:nvGrpSpPr>
            <p:cNvPr id="17" name="Group 9">
              <a:extLst>
                <a:ext uri="{FF2B5EF4-FFF2-40B4-BE49-F238E27FC236}">
                  <a16:creationId xmlns:a16="http://schemas.microsoft.com/office/drawing/2014/main" id="{A84805CC-431D-54B9-B37A-DEE061A599FB}"/>
                </a:ext>
              </a:extLst>
            </p:cNvPr>
            <p:cNvGrpSpPr/>
            <p:nvPr/>
          </p:nvGrpSpPr>
          <p:grpSpPr>
            <a:xfrm>
              <a:off x="9396804" y="6320825"/>
              <a:ext cx="8241285" cy="976943"/>
              <a:chOff x="0" y="0"/>
              <a:chExt cx="692357" cy="488127"/>
            </a:xfrm>
          </p:grpSpPr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0A362C17-16A2-9649-4BC8-90DE51691243}"/>
                  </a:ext>
                </a:extLst>
              </p:cNvPr>
              <p:cNvSpPr/>
              <p:nvPr/>
            </p:nvSpPr>
            <p:spPr>
              <a:xfrm>
                <a:off x="0" y="0"/>
                <a:ext cx="692357" cy="488127"/>
              </a:xfrm>
              <a:custGeom>
                <a:avLst/>
                <a:gdLst/>
                <a:ahLst/>
                <a:cxnLst/>
                <a:rect l="l" t="t" r="r" b="b"/>
                <a:pathLst>
                  <a:path w="692357" h="488127">
                    <a:moveTo>
                      <a:pt x="0" y="0"/>
                    </a:moveTo>
                    <a:lnTo>
                      <a:pt x="692357" y="0"/>
                    </a:lnTo>
                    <a:lnTo>
                      <a:pt x="692357" y="488127"/>
                    </a:lnTo>
                    <a:lnTo>
                      <a:pt x="0" y="48812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r>
                  <a:rPr lang="en-US" sz="2400" b="1" dirty="0"/>
                  <a:t>📍 Top Performing City</a:t>
                </a:r>
              </a:p>
              <a:p>
                <a:r>
                  <a:rPr lang="en-US" sz="2400" dirty="0"/>
                  <a:t>One city contributes the largest share of total revenue – prioritize driver allocation and marketing in this region.</a:t>
                </a:r>
              </a:p>
              <a:p>
                <a:endParaRPr lang="en-US" sz="2400" dirty="0"/>
              </a:p>
            </p:txBody>
          </p:sp>
          <p:sp>
            <p:nvSpPr>
              <p:cNvPr id="19" name="TextBox 11">
                <a:extLst>
                  <a:ext uri="{FF2B5EF4-FFF2-40B4-BE49-F238E27FC236}">
                    <a16:creationId xmlns:a16="http://schemas.microsoft.com/office/drawing/2014/main" id="{944465E7-DF69-3A03-4BB1-C89878C6E116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92357" cy="5833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4B26ED5-5DDA-C298-46FE-F39250364962}"/>
              </a:ext>
            </a:extLst>
          </p:cNvPr>
          <p:cNvGrpSpPr/>
          <p:nvPr/>
        </p:nvGrpSpPr>
        <p:grpSpPr>
          <a:xfrm>
            <a:off x="9341835" y="3324490"/>
            <a:ext cx="7560094" cy="2025185"/>
            <a:chOff x="8468145" y="1499466"/>
            <a:chExt cx="8694816" cy="1433514"/>
          </a:xfrm>
        </p:grpSpPr>
        <p:grpSp>
          <p:nvGrpSpPr>
            <p:cNvPr id="20" name="Group 6">
              <a:extLst>
                <a:ext uri="{FF2B5EF4-FFF2-40B4-BE49-F238E27FC236}">
                  <a16:creationId xmlns:a16="http://schemas.microsoft.com/office/drawing/2014/main" id="{E5FA8327-EEB8-229D-3193-F1B44B95C5BF}"/>
                </a:ext>
              </a:extLst>
            </p:cNvPr>
            <p:cNvGrpSpPr/>
            <p:nvPr/>
          </p:nvGrpSpPr>
          <p:grpSpPr>
            <a:xfrm>
              <a:off x="9629106" y="2004721"/>
              <a:ext cx="7533855" cy="928259"/>
              <a:chOff x="0" y="0"/>
              <a:chExt cx="692357" cy="488127"/>
            </a:xfrm>
          </p:grpSpPr>
          <p:sp>
            <p:nvSpPr>
              <p:cNvPr id="21" name="Freeform 7">
                <a:extLst>
                  <a:ext uri="{FF2B5EF4-FFF2-40B4-BE49-F238E27FC236}">
                    <a16:creationId xmlns:a16="http://schemas.microsoft.com/office/drawing/2014/main" id="{C728D31C-B6B7-3C77-6AAB-901CEF9164C0}"/>
                  </a:ext>
                </a:extLst>
              </p:cNvPr>
              <p:cNvSpPr/>
              <p:nvPr/>
            </p:nvSpPr>
            <p:spPr>
              <a:xfrm>
                <a:off x="0" y="0"/>
                <a:ext cx="692357" cy="488127"/>
              </a:xfrm>
              <a:custGeom>
                <a:avLst/>
                <a:gdLst/>
                <a:ahLst/>
                <a:cxnLst/>
                <a:rect l="l" t="t" r="r" b="b"/>
                <a:pathLst>
                  <a:path w="692357" h="488127">
                    <a:moveTo>
                      <a:pt x="0" y="0"/>
                    </a:moveTo>
                    <a:lnTo>
                      <a:pt x="692357" y="0"/>
                    </a:lnTo>
                    <a:lnTo>
                      <a:pt x="692357" y="488127"/>
                    </a:lnTo>
                    <a:lnTo>
                      <a:pt x="0" y="488127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  <p:sp>
            <p:nvSpPr>
              <p:cNvPr id="22" name="TextBox 8">
                <a:extLst>
                  <a:ext uri="{FF2B5EF4-FFF2-40B4-BE49-F238E27FC236}">
                    <a16:creationId xmlns:a16="http://schemas.microsoft.com/office/drawing/2014/main" id="{D1083F5C-F6A5-42BB-AEE3-0E34106C49EB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92357" cy="5833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grpSp>
          <p:nvGrpSpPr>
            <p:cNvPr id="26" name="Group 9">
              <a:extLst>
                <a:ext uri="{FF2B5EF4-FFF2-40B4-BE49-F238E27FC236}">
                  <a16:creationId xmlns:a16="http://schemas.microsoft.com/office/drawing/2014/main" id="{1DD33181-F504-156A-4E6D-008BD7EEA2C5}"/>
                </a:ext>
              </a:extLst>
            </p:cNvPr>
            <p:cNvGrpSpPr/>
            <p:nvPr/>
          </p:nvGrpSpPr>
          <p:grpSpPr>
            <a:xfrm>
              <a:off x="8468145" y="1499466"/>
              <a:ext cx="8241285" cy="976943"/>
              <a:chOff x="0" y="0"/>
              <a:chExt cx="692357" cy="488127"/>
            </a:xfrm>
          </p:grpSpPr>
          <p:sp>
            <p:nvSpPr>
              <p:cNvPr id="27" name="Freeform 10">
                <a:extLst>
                  <a:ext uri="{FF2B5EF4-FFF2-40B4-BE49-F238E27FC236}">
                    <a16:creationId xmlns:a16="http://schemas.microsoft.com/office/drawing/2014/main" id="{A00B78D4-9299-2F8A-DEE9-EFB2FDF1BF21}"/>
                  </a:ext>
                </a:extLst>
              </p:cNvPr>
              <p:cNvSpPr/>
              <p:nvPr/>
            </p:nvSpPr>
            <p:spPr>
              <a:xfrm>
                <a:off x="0" y="0"/>
                <a:ext cx="692357" cy="488127"/>
              </a:xfrm>
              <a:custGeom>
                <a:avLst/>
                <a:gdLst/>
                <a:ahLst/>
                <a:cxnLst/>
                <a:rect l="l" t="t" r="r" b="b"/>
                <a:pathLst>
                  <a:path w="692357" h="488127">
                    <a:moveTo>
                      <a:pt x="0" y="0"/>
                    </a:moveTo>
                    <a:lnTo>
                      <a:pt x="692357" y="0"/>
                    </a:lnTo>
                    <a:lnTo>
                      <a:pt x="692357" y="488127"/>
                    </a:lnTo>
                    <a:lnTo>
                      <a:pt x="0" y="48812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r>
                  <a:rPr lang="en-US" sz="2400" b="1" dirty="0"/>
                  <a:t>❌ High Cancellation Hours</a:t>
                </a:r>
              </a:p>
              <a:p>
                <a:r>
                  <a:rPr lang="en-US" sz="2400" dirty="0"/>
                  <a:t>Late evening time slots show elevated ride cancellations – implement operational controls to reduce revenue loss.</a:t>
                </a:r>
              </a:p>
              <a:p>
                <a:endParaRPr lang="en-US" sz="2400" dirty="0"/>
              </a:p>
            </p:txBody>
          </p:sp>
          <p:sp>
            <p:nvSpPr>
              <p:cNvPr id="28" name="TextBox 11">
                <a:extLst>
                  <a:ext uri="{FF2B5EF4-FFF2-40B4-BE49-F238E27FC236}">
                    <a16:creationId xmlns:a16="http://schemas.microsoft.com/office/drawing/2014/main" id="{94CEE65E-9F30-B31A-D54C-39CDDF539A38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92357" cy="5833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D9A592A-D995-C24A-2226-A3453EC0C1EA}"/>
              </a:ext>
            </a:extLst>
          </p:cNvPr>
          <p:cNvGrpSpPr/>
          <p:nvPr/>
        </p:nvGrpSpPr>
        <p:grpSpPr>
          <a:xfrm>
            <a:off x="9681649" y="5123110"/>
            <a:ext cx="7165751" cy="2204906"/>
            <a:chOff x="9488321" y="8375779"/>
            <a:chExt cx="8694816" cy="1624148"/>
          </a:xfrm>
        </p:grpSpPr>
        <p:grpSp>
          <p:nvGrpSpPr>
            <p:cNvPr id="31" name="Group 6">
              <a:extLst>
                <a:ext uri="{FF2B5EF4-FFF2-40B4-BE49-F238E27FC236}">
                  <a16:creationId xmlns:a16="http://schemas.microsoft.com/office/drawing/2014/main" id="{F911E895-273C-CB92-03C4-FE86A7223F60}"/>
                </a:ext>
              </a:extLst>
            </p:cNvPr>
            <p:cNvGrpSpPr/>
            <p:nvPr/>
          </p:nvGrpSpPr>
          <p:grpSpPr>
            <a:xfrm>
              <a:off x="10649282" y="9071668"/>
              <a:ext cx="7533855" cy="928259"/>
              <a:chOff x="0" y="0"/>
              <a:chExt cx="692357" cy="488127"/>
            </a:xfrm>
          </p:grpSpPr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2FF6407D-2F78-4F12-A1F0-9AAA18935E5B}"/>
                  </a:ext>
                </a:extLst>
              </p:cNvPr>
              <p:cNvSpPr/>
              <p:nvPr/>
            </p:nvSpPr>
            <p:spPr>
              <a:xfrm>
                <a:off x="0" y="0"/>
                <a:ext cx="692357" cy="488127"/>
              </a:xfrm>
              <a:custGeom>
                <a:avLst/>
                <a:gdLst/>
                <a:ahLst/>
                <a:cxnLst/>
                <a:rect l="l" t="t" r="r" b="b"/>
                <a:pathLst>
                  <a:path w="692357" h="488127">
                    <a:moveTo>
                      <a:pt x="0" y="0"/>
                    </a:moveTo>
                    <a:lnTo>
                      <a:pt x="692357" y="0"/>
                    </a:lnTo>
                    <a:lnTo>
                      <a:pt x="692357" y="488127"/>
                    </a:lnTo>
                    <a:lnTo>
                      <a:pt x="0" y="488127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  <p:sp>
            <p:nvSpPr>
              <p:cNvPr id="37" name="TextBox 8">
                <a:extLst>
                  <a:ext uri="{FF2B5EF4-FFF2-40B4-BE49-F238E27FC236}">
                    <a16:creationId xmlns:a16="http://schemas.microsoft.com/office/drawing/2014/main" id="{F777D65E-FC16-5ADF-88DB-3B74579023A9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92357" cy="5833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  <p:grpSp>
          <p:nvGrpSpPr>
            <p:cNvPr id="38" name="Group 9">
              <a:extLst>
                <a:ext uri="{FF2B5EF4-FFF2-40B4-BE49-F238E27FC236}">
                  <a16:creationId xmlns:a16="http://schemas.microsoft.com/office/drawing/2014/main" id="{72876247-45C5-230A-56DB-50E7B00973FA}"/>
                </a:ext>
              </a:extLst>
            </p:cNvPr>
            <p:cNvGrpSpPr/>
            <p:nvPr/>
          </p:nvGrpSpPr>
          <p:grpSpPr>
            <a:xfrm>
              <a:off x="9488321" y="8375779"/>
              <a:ext cx="8241285" cy="1300027"/>
              <a:chOff x="0" y="-95250"/>
              <a:chExt cx="692357" cy="649555"/>
            </a:xfrm>
          </p:grpSpPr>
          <p:sp>
            <p:nvSpPr>
              <p:cNvPr id="39" name="Freeform 10">
                <a:extLst>
                  <a:ext uri="{FF2B5EF4-FFF2-40B4-BE49-F238E27FC236}">
                    <a16:creationId xmlns:a16="http://schemas.microsoft.com/office/drawing/2014/main" id="{82445A3A-121C-823D-76B3-6AC9663F6B83}"/>
                  </a:ext>
                </a:extLst>
              </p:cNvPr>
              <p:cNvSpPr/>
              <p:nvPr/>
            </p:nvSpPr>
            <p:spPr>
              <a:xfrm>
                <a:off x="0" y="0"/>
                <a:ext cx="692357" cy="554305"/>
              </a:xfrm>
              <a:custGeom>
                <a:avLst/>
                <a:gdLst/>
                <a:ahLst/>
                <a:cxnLst/>
                <a:rect l="l" t="t" r="r" b="b"/>
                <a:pathLst>
                  <a:path w="692357" h="488127">
                    <a:moveTo>
                      <a:pt x="0" y="0"/>
                    </a:moveTo>
                    <a:lnTo>
                      <a:pt x="692357" y="0"/>
                    </a:lnTo>
                    <a:lnTo>
                      <a:pt x="692357" y="488127"/>
                    </a:lnTo>
                    <a:lnTo>
                      <a:pt x="0" y="48812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r>
                  <a:rPr lang="en-US" sz="2400" b="1" dirty="0"/>
                  <a:t>💳 Digital Payment Dominance</a:t>
                </a:r>
              </a:p>
              <a:p>
                <a:r>
                  <a:rPr lang="en-US" sz="2400" dirty="0"/>
                  <a:t>Majority of transactions occur via digital payments – optimize cashback and loyalty incentives to boost retention</a:t>
                </a:r>
              </a:p>
              <a:p>
                <a:endParaRPr lang="en-US" sz="2400" dirty="0"/>
              </a:p>
            </p:txBody>
          </p:sp>
          <p:sp>
            <p:nvSpPr>
              <p:cNvPr id="40" name="TextBox 11">
                <a:extLst>
                  <a:ext uri="{FF2B5EF4-FFF2-40B4-BE49-F238E27FC236}">
                    <a16:creationId xmlns:a16="http://schemas.microsoft.com/office/drawing/2014/main" id="{953659A3-31DF-0F94-8610-F27BF19F650A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692357" cy="5833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3"/>
                  </a:lnSpc>
                </a:pPr>
                <a:endParaRPr/>
              </a:p>
            </p:txBody>
          </p:sp>
        </p:grpSp>
      </p:grpSp>
      <p:sp>
        <p:nvSpPr>
          <p:cNvPr id="55" name="Shape 15">
            <a:extLst>
              <a:ext uri="{FF2B5EF4-FFF2-40B4-BE49-F238E27FC236}">
                <a16:creationId xmlns:a16="http://schemas.microsoft.com/office/drawing/2014/main" id="{D6B62127-C06B-F9C2-27F0-0C93F7AB5F93}"/>
              </a:ext>
            </a:extLst>
          </p:cNvPr>
          <p:cNvSpPr/>
          <p:nvPr/>
        </p:nvSpPr>
        <p:spPr>
          <a:xfrm>
            <a:off x="1965246" y="8109843"/>
            <a:ext cx="367427" cy="367427"/>
          </a:xfrm>
          <a:prstGeom prst="roundRect">
            <a:avLst>
              <a:gd name="adj" fmla="val 6667"/>
            </a:avLst>
          </a:prstGeom>
          <a:solidFill>
            <a:srgbClr val="FFC000"/>
          </a:solidFill>
          <a:ln/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831F36B5-8AF2-1D15-1E74-F58CCB780E8B}"/>
              </a:ext>
            </a:extLst>
          </p:cNvPr>
          <p:cNvSpPr/>
          <p:nvPr/>
        </p:nvSpPr>
        <p:spPr>
          <a:xfrm>
            <a:off x="7481513" y="8109842"/>
            <a:ext cx="367427" cy="367427"/>
          </a:xfrm>
          <a:prstGeom prst="roundRect">
            <a:avLst>
              <a:gd name="adj" fmla="val 6667"/>
            </a:avLst>
          </a:prstGeom>
          <a:solidFill>
            <a:srgbClr val="FFC000"/>
          </a:solidFill>
          <a:ln/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86F12C68-A256-7FE6-F682-A6FA078D3B40}"/>
              </a:ext>
            </a:extLst>
          </p:cNvPr>
          <p:cNvSpPr/>
          <p:nvPr/>
        </p:nvSpPr>
        <p:spPr>
          <a:xfrm>
            <a:off x="13077638" y="8109843"/>
            <a:ext cx="367427" cy="367427"/>
          </a:xfrm>
          <a:prstGeom prst="roundRect">
            <a:avLst>
              <a:gd name="adj" fmla="val 6667"/>
            </a:avLst>
          </a:prstGeom>
          <a:solidFill>
            <a:srgbClr val="FFC000"/>
          </a:solidFill>
          <a:ln/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437D6C-F40B-0811-0E85-2C34F6C6F41E}"/>
              </a:ext>
            </a:extLst>
          </p:cNvPr>
          <p:cNvSpPr txBox="1"/>
          <p:nvPr/>
        </p:nvSpPr>
        <p:spPr>
          <a:xfrm>
            <a:off x="1939030" y="8655784"/>
            <a:ext cx="50841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Enhance Driver Incentives</a:t>
            </a:r>
          </a:p>
          <a:p>
            <a:r>
              <a:rPr lang="en-US" sz="2000" dirty="0"/>
              <a:t>Introduce performance-based bonuses for top-performing drivers to improve ride completion rates and service quality.</a:t>
            </a:r>
          </a:p>
          <a:p>
            <a:endParaRPr lang="en-US" sz="2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4FC9296-4A9D-6149-D586-C2E2DD9D7284}"/>
              </a:ext>
            </a:extLst>
          </p:cNvPr>
          <p:cNvSpPr txBox="1"/>
          <p:nvPr/>
        </p:nvSpPr>
        <p:spPr>
          <a:xfrm>
            <a:off x="7139578" y="8666698"/>
            <a:ext cx="50841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Reduce Cancellations</a:t>
            </a:r>
          </a:p>
          <a:p>
            <a:r>
              <a:rPr lang="en-US" sz="2000" dirty="0"/>
              <a:t>Deploy automated booking confirmations and customer reminders to minimize last-minute cancellations.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287C70-CF6D-3F31-A65F-38D638B48E72}"/>
              </a:ext>
            </a:extLst>
          </p:cNvPr>
          <p:cNvSpPr txBox="1"/>
          <p:nvPr/>
        </p:nvSpPr>
        <p:spPr>
          <a:xfrm>
            <a:off x="12901850" y="8655784"/>
            <a:ext cx="50841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Optimize Peak Pricing</a:t>
            </a:r>
          </a:p>
          <a:p>
            <a:r>
              <a:rPr lang="en-US" sz="2000" dirty="0"/>
              <a:t>Implement dynamic surge pricing during high-demand hours to maximize revenue and manage supply-demand balance.</a:t>
            </a:r>
          </a:p>
        </p:txBody>
      </p:sp>
    </p:spTree>
    <p:extLst>
      <p:ext uri="{BB962C8B-B14F-4D97-AF65-F5344CB8AC3E}">
        <p14:creationId xmlns:p14="http://schemas.microsoft.com/office/powerpoint/2010/main" val="2453472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3025" y="2724482"/>
            <a:ext cx="14691478" cy="6306272"/>
            <a:chOff x="0" y="0"/>
            <a:chExt cx="1893549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93549" cy="812800"/>
            </a:xfrm>
            <a:custGeom>
              <a:avLst/>
              <a:gdLst/>
              <a:ahLst/>
              <a:cxnLst/>
              <a:rect l="l" t="t" r="r" b="b"/>
              <a:pathLst>
                <a:path w="1893549" h="812800">
                  <a:moveTo>
                    <a:pt x="0" y="0"/>
                  </a:moveTo>
                  <a:lnTo>
                    <a:pt x="1893549" y="0"/>
                  </a:lnTo>
                  <a:lnTo>
                    <a:pt x="18935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893549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97983" y="1114425"/>
            <a:ext cx="8782495" cy="1209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48"/>
              </a:lnSpc>
              <a:spcBef>
                <a:spcPct val="0"/>
              </a:spcBef>
            </a:pPr>
            <a:r>
              <a:rPr lang="en-US" sz="8498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4240" y="3255566"/>
            <a:ext cx="9848719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/>
              <a:t>The Via Cab Analytics Project successfully transforms raw ride and revenue data into actionable business intelligence. By implementing a structured data model and KPI-driven dashboards, the solution provides clear visibility into revenue trends, driver performance, cancellation patterns, and city-wise demand.</a:t>
            </a:r>
          </a:p>
          <a:p>
            <a:endParaRPr lang="en-US" sz="2400" dirty="0"/>
          </a:p>
          <a:p>
            <a:r>
              <a:rPr lang="en-US" sz="2400" dirty="0"/>
              <a:t>The insights enable data-driven decision-making, operational optimization, and revenue enhancement strategies.</a:t>
            </a:r>
          </a:p>
          <a:p>
            <a:r>
              <a:rPr lang="en-US" sz="2400" dirty="0"/>
              <a:t> Overall, this project demonstrates how Power BI can deliver scalable, efficient, and strategic analytics solutions to improve business performance and competitive advantage.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598485" y="-603772"/>
            <a:ext cx="4967219" cy="11216898"/>
            <a:chOff x="0" y="0"/>
            <a:chExt cx="2117230" cy="47810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17230" cy="4781095"/>
            </a:xfrm>
            <a:custGeom>
              <a:avLst/>
              <a:gdLst/>
              <a:ahLst/>
              <a:cxnLst/>
              <a:rect l="l" t="t" r="r" b="b"/>
              <a:pathLst>
                <a:path w="2117230" h="4781095">
                  <a:moveTo>
                    <a:pt x="0" y="0"/>
                  </a:moveTo>
                  <a:lnTo>
                    <a:pt x="2117230" y="0"/>
                  </a:lnTo>
                  <a:lnTo>
                    <a:pt x="2117230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2117230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835526" y="-464949"/>
            <a:ext cx="4967219" cy="11216898"/>
            <a:chOff x="0" y="0"/>
            <a:chExt cx="2117230" cy="47810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17230" cy="4781095"/>
            </a:xfrm>
            <a:custGeom>
              <a:avLst/>
              <a:gdLst/>
              <a:ahLst/>
              <a:cxnLst/>
              <a:rect l="l" t="t" r="r" b="b"/>
              <a:pathLst>
                <a:path w="2117230" h="4781095">
                  <a:moveTo>
                    <a:pt x="0" y="0"/>
                  </a:moveTo>
                  <a:lnTo>
                    <a:pt x="2117230" y="0"/>
                  </a:lnTo>
                  <a:lnTo>
                    <a:pt x="2117230" y="4781095"/>
                  </a:lnTo>
                  <a:lnTo>
                    <a:pt x="0" y="4781095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2117230" cy="487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200615" y="298796"/>
            <a:ext cx="2174770" cy="696247"/>
            <a:chOff x="0" y="0"/>
            <a:chExt cx="568013" cy="1818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8013" cy="181848"/>
            </a:xfrm>
            <a:custGeom>
              <a:avLst/>
              <a:gdLst/>
              <a:ahLst/>
              <a:cxnLst/>
              <a:rect l="l" t="t" r="r" b="b"/>
              <a:pathLst>
                <a:path w="568013" h="181848">
                  <a:moveTo>
                    <a:pt x="0" y="0"/>
                  </a:moveTo>
                  <a:lnTo>
                    <a:pt x="568013" y="0"/>
                  </a:lnTo>
                  <a:lnTo>
                    <a:pt x="568013" y="181848"/>
                  </a:lnTo>
                  <a:lnTo>
                    <a:pt x="0" y="181848"/>
                  </a:lnTo>
                  <a:close/>
                </a:path>
              </a:pathLst>
            </a:custGeom>
            <a:solidFill>
              <a:srgbClr val="FEBA32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568013" cy="27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B682555D-A543-53FF-A21F-7853F9F60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91"/>
          <a:stretch>
            <a:fillRect/>
          </a:stretch>
        </p:blipFill>
        <p:spPr>
          <a:xfrm>
            <a:off x="11822142" y="5822953"/>
            <a:ext cx="5023497" cy="39989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097836"/>
            <a:ext cx="14531439" cy="185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3"/>
              </a:lnSpc>
            </a:pPr>
            <a:r>
              <a:rPr lang="en-US" sz="13021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THANK YOU!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858804" y="801980"/>
            <a:ext cx="4597756" cy="8683039"/>
            <a:chOff x="0" y="0"/>
            <a:chExt cx="1959749" cy="3701062"/>
          </a:xfrm>
          <a:solidFill>
            <a:srgbClr val="002060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959749" cy="3701062"/>
            </a:xfrm>
            <a:custGeom>
              <a:avLst/>
              <a:gdLst/>
              <a:ahLst/>
              <a:cxnLst/>
              <a:rect l="l" t="t" r="r" b="b"/>
              <a:pathLst>
                <a:path w="1959749" h="3701062">
                  <a:moveTo>
                    <a:pt x="0" y="0"/>
                  </a:moveTo>
                  <a:lnTo>
                    <a:pt x="1959749" y="0"/>
                  </a:lnTo>
                  <a:lnTo>
                    <a:pt x="1959749" y="3701062"/>
                  </a:lnTo>
                  <a:lnTo>
                    <a:pt x="0" y="3701062"/>
                  </a:ln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959749" cy="379631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358112" y="3206183"/>
            <a:ext cx="4929888" cy="27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6539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LET'S</a:t>
            </a:r>
          </a:p>
          <a:p>
            <a:pPr algn="l">
              <a:lnSpc>
                <a:spcPts val="7193"/>
              </a:lnSpc>
            </a:pPr>
            <a:r>
              <a:rPr lang="en-US" sz="6539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WORK</a:t>
            </a:r>
          </a:p>
          <a:p>
            <a:pPr algn="l">
              <a:lnSpc>
                <a:spcPts val="7193"/>
              </a:lnSpc>
            </a:pPr>
            <a:r>
              <a:rPr lang="en-US" sz="6539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TOGETHER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369175" y="1028700"/>
            <a:ext cx="2174770" cy="696247"/>
            <a:chOff x="0" y="0"/>
            <a:chExt cx="568013" cy="1818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013" cy="181848"/>
            </a:xfrm>
            <a:custGeom>
              <a:avLst/>
              <a:gdLst/>
              <a:ahLst/>
              <a:cxnLst/>
              <a:rect l="l" t="t" r="r" b="b"/>
              <a:pathLst>
                <a:path w="568013" h="181848">
                  <a:moveTo>
                    <a:pt x="0" y="0"/>
                  </a:moveTo>
                  <a:lnTo>
                    <a:pt x="568013" y="0"/>
                  </a:lnTo>
                  <a:lnTo>
                    <a:pt x="568013" y="181848"/>
                  </a:lnTo>
                  <a:lnTo>
                    <a:pt x="0" y="181848"/>
                  </a:lnTo>
                  <a:close/>
                </a:path>
              </a:pathLst>
            </a:custGeom>
            <a:solidFill>
              <a:srgbClr val="FEBA3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568013" cy="27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822068" y="6841116"/>
            <a:ext cx="4272010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5"/>
              </a:lnSpc>
            </a:pPr>
            <a:r>
              <a:rPr lang="en-US" sz="192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Berhampore</a:t>
            </a:r>
            <a:r>
              <a:rPr lang="en-US" sz="192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, West Bengal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419630" y="7823987"/>
            <a:ext cx="288318" cy="288318"/>
          </a:xfrm>
          <a:custGeom>
            <a:avLst/>
            <a:gdLst/>
            <a:ahLst/>
            <a:cxnLst/>
            <a:rect l="l" t="t" r="r" b="b"/>
            <a:pathLst>
              <a:path w="288318" h="288318">
                <a:moveTo>
                  <a:pt x="0" y="0"/>
                </a:moveTo>
                <a:lnTo>
                  <a:pt x="288318" y="0"/>
                </a:lnTo>
                <a:lnTo>
                  <a:pt x="288318" y="288317"/>
                </a:lnTo>
                <a:lnTo>
                  <a:pt x="0" y="288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419630" y="6323004"/>
            <a:ext cx="288318" cy="288318"/>
          </a:xfrm>
          <a:custGeom>
            <a:avLst/>
            <a:gdLst/>
            <a:ahLst/>
            <a:cxnLst/>
            <a:rect l="l" t="t" r="r" b="b"/>
            <a:pathLst>
              <a:path w="288318" h="288318">
                <a:moveTo>
                  <a:pt x="0" y="0"/>
                </a:moveTo>
                <a:lnTo>
                  <a:pt x="288318" y="0"/>
                </a:lnTo>
                <a:lnTo>
                  <a:pt x="288318" y="288317"/>
                </a:lnTo>
                <a:lnTo>
                  <a:pt x="0" y="288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419630" y="6848507"/>
            <a:ext cx="280480" cy="280480"/>
          </a:xfrm>
          <a:custGeom>
            <a:avLst/>
            <a:gdLst/>
            <a:ahLst/>
            <a:cxnLst/>
            <a:rect l="l" t="t" r="r" b="b"/>
            <a:pathLst>
              <a:path w="280480" h="280480">
                <a:moveTo>
                  <a:pt x="0" y="0"/>
                </a:moveTo>
                <a:lnTo>
                  <a:pt x="280480" y="0"/>
                </a:lnTo>
                <a:lnTo>
                  <a:pt x="280480" y="280480"/>
                </a:lnTo>
                <a:lnTo>
                  <a:pt x="0" y="280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822068" y="7770128"/>
            <a:ext cx="4078855" cy="66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1929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rimi.singha01@gmail.com</a:t>
            </a:r>
            <a:endParaRPr lang="en-US" sz="1929" dirty="0">
              <a:solidFill>
                <a:schemeClr val="bg1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701"/>
              </a:lnSpc>
            </a:pPr>
            <a:endParaRPr lang="en-US" sz="1929" dirty="0">
              <a:solidFill>
                <a:schemeClr val="bg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822068" y="6285089"/>
            <a:ext cx="3347096" cy="316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1"/>
              </a:lnSpc>
              <a:spcBef>
                <a:spcPct val="0"/>
              </a:spcBef>
            </a:pPr>
            <a:r>
              <a:rPr lang="en-US" sz="1929" u="none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6294653977</a:t>
            </a:r>
          </a:p>
        </p:txBody>
      </p:sp>
      <p:sp>
        <p:nvSpPr>
          <p:cNvPr id="20" name="TextBox 24">
            <a:extLst>
              <a:ext uri="{FF2B5EF4-FFF2-40B4-BE49-F238E27FC236}">
                <a16:creationId xmlns:a16="http://schemas.microsoft.com/office/drawing/2014/main" id="{9CFD8A13-34D0-3B5B-988C-04FBB34DDCED}"/>
              </a:ext>
            </a:extLst>
          </p:cNvPr>
          <p:cNvSpPr txBox="1"/>
          <p:nvPr/>
        </p:nvSpPr>
        <p:spPr>
          <a:xfrm>
            <a:off x="13875778" y="7257251"/>
            <a:ext cx="3421622" cy="376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359"/>
              </a:lnSpc>
              <a:spcBef>
                <a:spcPct val="0"/>
              </a:spcBef>
            </a:pPr>
            <a:r>
              <a:rPr lang="en-US" sz="1400" dirty="0">
                <a:solidFill>
                  <a:schemeClr val="bg1"/>
                </a:solidFill>
                <a:hlinkClick r:id="rId9" tooltip="www.linkedin.com/in/rimi-singha-3093b532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www.linkedin.com/in/rimi-singha-3093b532b</a:t>
            </a:r>
            <a:endParaRPr lang="en-US" b="1" u="none" strike="noStrike" dirty="0">
              <a:solidFill>
                <a:schemeClr val="bg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2B4E44B-2459-A040-2208-081856A57802}"/>
              </a:ext>
            </a:extLst>
          </p:cNvPr>
          <p:cNvSpPr/>
          <p:nvPr/>
        </p:nvSpPr>
        <p:spPr>
          <a:xfrm>
            <a:off x="13358112" y="7375312"/>
            <a:ext cx="448770" cy="228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4DB6C31B-534D-4FF2-29C9-9F2D277D0581}"/>
              </a:ext>
            </a:extLst>
          </p:cNvPr>
          <p:cNvSpPr/>
          <p:nvPr/>
        </p:nvSpPr>
        <p:spPr>
          <a:xfrm>
            <a:off x="13442249" y="7406119"/>
            <a:ext cx="280495" cy="166985"/>
          </a:xfrm>
          <a:custGeom>
            <a:avLst/>
            <a:gdLst/>
            <a:ahLst/>
            <a:cxnLst/>
            <a:rect l="l" t="t" r="r" b="b"/>
            <a:pathLst>
              <a:path w="421928" h="210964">
                <a:moveTo>
                  <a:pt x="0" y="0"/>
                </a:moveTo>
                <a:lnTo>
                  <a:pt x="421929" y="0"/>
                </a:lnTo>
                <a:lnTo>
                  <a:pt x="421929" y="210964"/>
                </a:lnTo>
                <a:lnTo>
                  <a:pt x="0" y="2109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484</Words>
  <Application>Microsoft Office PowerPoint</Application>
  <PresentationFormat>Custom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Arimo Italics</vt:lpstr>
      <vt:lpstr>Calibri</vt:lpstr>
      <vt:lpstr>Poppins Medium</vt:lpstr>
      <vt:lpstr>Arial</vt:lpstr>
      <vt:lpstr>Kanit</vt:lpstr>
      <vt:lpstr>Oswald Bold</vt:lpstr>
      <vt:lpstr>Arimo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Rimi Singha</cp:lastModifiedBy>
  <cp:revision>4</cp:revision>
  <dcterms:created xsi:type="dcterms:W3CDTF">2006-08-16T00:00:00Z</dcterms:created>
  <dcterms:modified xsi:type="dcterms:W3CDTF">2026-02-12T18:30:50Z</dcterms:modified>
  <dc:identifier>DAHBE_Mung8</dc:identifier>
</cp:coreProperties>
</file>